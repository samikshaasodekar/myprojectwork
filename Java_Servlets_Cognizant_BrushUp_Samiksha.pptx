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Servlets – Building Dynamic Web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Samiksha Asodekar | Cognizant Brush-Up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Servlet?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Java program that runs on the server to create dynamic web pages</a:t>
            </a:r>
          </a:p>
          <a:p>
            <a:pPr/>
            <a:r>
              <a:t>Resides at server-side and handles client requests/responses</a:t>
            </a:r>
          </a:p>
          <a:p>
            <a:pPr/>
            <a:r>
              <a:t>Core of Java EE (Jakarta EE) web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Servlets: CGI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CGI (Common Gateway Interface) created a new process per request</a:t>
            </a:r>
          </a:p>
          <a:p>
            <a:pPr/>
            <a:r>
              <a:t>Slow, not scalable, and platform-dependent</a:t>
            </a:r>
          </a:p>
          <a:p>
            <a:pPr/>
            <a:r>
              <a:t>Needed a better solution for modern web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Servlets? (Advantages)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Efficient: threads, not processes</a:t>
            </a:r>
          </a:p>
          <a:p>
            <a:pPr/>
            <a:r>
              <a:t>Convenient: written in Java</a:t>
            </a:r>
          </a:p>
          <a:p>
            <a:pPr/>
            <a:r>
              <a:t>Powerful: integrates with web server and DB</a:t>
            </a:r>
          </a:p>
          <a:p>
            <a:pPr/>
            <a:r>
              <a:t>Portable: runs anywhere Java runs</a:t>
            </a:r>
          </a:p>
          <a:p>
            <a:pPr/>
            <a:r>
              <a:t>Secure and scalable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[Add diagram: Browser → Web Server → Servlet Container (Tomcat) → Database]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Packages: javax.servlet, javax.servlet.http</a:t>
            </a:r>
          </a:p>
          <a:p>
            <a:pPr/>
            <a:r>
              <a:t>Key interfaces: Servlet, ServletRequest, ServletResponse</a:t>
            </a:r>
          </a:p>
          <a:p>
            <a:pPr/>
            <a:r>
              <a:t>Key classes: GenericServlet, HttpServlet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Servlets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GenericServlet – protocol-independent</a:t>
            </a:r>
          </a:p>
          <a:p>
            <a:pPr/>
            <a:r>
              <a:t>HttpServlet – HTTP-specific (most commonly used)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Packages to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import java.io.*;</a:t>
            </a:r>
            <a:br/>
            <a:r>
              <a:rPr sz="1400">
                <a:latin typeface="Courier New"/>
              </a:rPr>
              <a:t>import javax.servlet.*;</a:t>
            </a:r>
            <a:br/>
            <a:r>
              <a:rPr sz="1400">
                <a:latin typeface="Courier New"/>
              </a:rPr>
              <a:t>import javax.servlet.http.*;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Servlet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public class MyServlet extends HttpServlet {</a:t>
            </a:r>
            <a:br/>
            <a:r>
              <a:rPr sz="1400">
                <a:latin typeface="Courier New"/>
              </a:rPr>
              <a:t>  public void doGet(HttpServletRequest req, HttpServletResponse res)</a:t>
            </a:r>
            <a:br/>
            <a:r>
              <a:rPr sz="1400">
                <a:latin typeface="Courier New"/>
              </a:rPr>
              <a:t>      throws ServletException, IOException {</a:t>
            </a:r>
            <a:br/>
            <a:r>
              <a:rPr sz="1400">
                <a:latin typeface="Courier New"/>
              </a:rPr>
              <a:t>    res.setContentType("text/html");</a:t>
            </a:r>
            <a:br/>
            <a:r>
              <a:rPr sz="1400">
                <a:latin typeface="Courier New"/>
              </a:rPr>
              <a:t>    PrintWriter out = res.getWriter();</a:t>
            </a:r>
            <a:br/>
            <a:r>
              <a:rPr sz="1400">
                <a:latin typeface="Courier New"/>
              </a:rPr>
              <a:t>    out.println("&lt;h2&gt;Hello from Servlet!&lt;/h2&gt;");</a:t>
            </a:r>
            <a:br/>
            <a:r>
              <a:rPr sz="1400">
                <a:latin typeface="Courier New"/>
              </a:rPr>
              <a:t>  }</a:t>
            </a:r>
            <a:br/>
            <a:r>
              <a:rPr sz="14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init() – runs once when servlet loads</a:t>
            </a:r>
          </a:p>
          <a:p>
            <a:pPr/>
            <a:r>
              <a:t>service() – runs per request (delegates to doGet/doPost)</a:t>
            </a:r>
          </a:p>
          <a:p>
            <a:pPr/>
            <a:r>
              <a:t>destroy() – runs once when servlet unloads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@Override</a:t>
            </a:r>
            <a:br/>
            <a:r>
              <a:rPr sz="1400">
                <a:latin typeface="Courier New"/>
              </a:rPr>
              <a:t>public void init() throws ServletException {</a:t>
            </a:r>
            <a:br/>
            <a:r>
              <a:rPr sz="1400">
                <a:latin typeface="Courier New"/>
              </a:rPr>
              <a:t>  System.out.println("Servlet Initialized!");</a:t>
            </a:r>
            <a:br/>
            <a:r>
              <a:rPr sz="14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@Override</a:t>
            </a:r>
            <a:br/>
            <a:r>
              <a:rPr sz="1400">
                <a:latin typeface="Courier New"/>
              </a:rPr>
              <a:t>public void service(ServletRequest req, ServletResponse res)</a:t>
            </a:r>
            <a:br/>
            <a:r>
              <a:rPr sz="1400">
                <a:latin typeface="Courier New"/>
              </a:rPr>
              <a:t>    throws ServletException, IOException {</a:t>
            </a:r>
            <a:br/>
            <a:r>
              <a:rPr sz="1400">
                <a:latin typeface="Courier New"/>
              </a:rPr>
              <a:t>  System.out.println("Request received");</a:t>
            </a:r>
            <a:br/>
            <a:r>
              <a:rPr sz="1400">
                <a:latin typeface="Courier New"/>
              </a:rPr>
              <a:t>  super.service(req, res); // delegates to doGet/doPost</a:t>
            </a:r>
            <a:br/>
            <a:r>
              <a:rPr sz="14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destroy()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@Override</a:t>
            </a:r>
            <a:br/>
            <a:r>
              <a:rPr sz="1400">
                <a:latin typeface="Courier New"/>
              </a:rPr>
              <a:t>public void destroy() {</a:t>
            </a:r>
            <a:br/>
            <a:r>
              <a:rPr sz="1400">
                <a:latin typeface="Courier New"/>
              </a:rPr>
              <a:t>  System.out.println("Servlet Destroyed!");</a:t>
            </a:r>
            <a:br/>
            <a:r>
              <a:rPr sz="14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[Show sequence: init() → service() → service() → destroy() (console log screenshot)]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&amp; Response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Servlet receives HTTP request via HttpServletRequest</a:t>
            </a:r>
          </a:p>
          <a:p>
            <a:pPr/>
            <a:r>
              <a:t>Servlet sends HTTP response via HttpServletResponse</a:t>
            </a:r>
          </a:p>
          <a:p>
            <a:pPr/>
            <a:r>
              <a:t>Response often contains HTML or 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 vs POST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GET: data in URL, limited size (~2KB), good for reading/fetching</a:t>
            </a:r>
          </a:p>
          <a:p>
            <a:pPr/>
            <a:r>
              <a:t>POST: data in body, no strict size limit, good for form submission</a:t>
            </a:r>
          </a:p>
          <a:p>
            <a:pPr/>
            <a:r>
              <a:t>Security: POST is safer for sensitive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Form (GET)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&lt;form action="HelloForm" method="GET"&gt;</a:t>
            </a:r>
            <a:br/>
            <a:r>
              <a:rPr sz="1400">
                <a:latin typeface="Courier New"/>
              </a:rPr>
              <a:t>  Name: &lt;input type="text" name="first_name"&gt;</a:t>
            </a:r>
            <a:br/>
            <a:r>
              <a:rPr sz="1400">
                <a:latin typeface="Courier New"/>
              </a:rPr>
              <a:t>  &lt;input type="submit" value="Submit"&gt;</a:t>
            </a:r>
            <a:br/>
            <a:r>
              <a:rPr sz="1400">
                <a:latin typeface="Courier New"/>
              </a:rPr>
              <a:t>&lt;/form&gt;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Servlet: Reading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public void doGet(HttpServletRequest req, HttpServletResponse res)</a:t>
            </a:r>
            <a:br/>
            <a:r>
              <a:rPr sz="1400">
                <a:latin typeface="Courier New"/>
              </a:rPr>
              <a:t>    throws IOException {</a:t>
            </a:r>
            <a:br/>
            <a:r>
              <a:rPr sz="1400">
                <a:latin typeface="Courier New"/>
              </a:rPr>
              <a:t>  res.setContentType("text/html");</a:t>
            </a:r>
            <a:br/>
            <a:r>
              <a:rPr sz="1400">
                <a:latin typeface="Courier New"/>
              </a:rPr>
              <a:t>  PrintWriter out = res.getWriter();</a:t>
            </a:r>
            <a:br/>
            <a:r>
              <a:rPr sz="1400">
                <a:latin typeface="Courier New"/>
              </a:rPr>
              <a:t>  String name = req.getParameter("first_name");</a:t>
            </a:r>
            <a:br/>
            <a:r>
              <a:rPr sz="1400">
                <a:latin typeface="Courier New"/>
              </a:rPr>
              <a:t>  out.println("&lt;h3&gt;Hello, " + name + "!&lt;/h3&gt;");</a:t>
            </a:r>
            <a:br/>
            <a:r>
              <a:rPr sz="1400"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web.xml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&lt;web-app&gt;</a:t>
            </a:r>
            <a:br/>
            <a:r>
              <a:rPr sz="1400">
                <a:latin typeface="Courier New"/>
              </a:rPr>
              <a:t>  &lt;servlet&gt;</a:t>
            </a:r>
            <a:br/>
            <a:r>
              <a:rPr sz="1400">
                <a:latin typeface="Courier New"/>
              </a:rPr>
              <a:t>    &lt;servlet-name&gt;HelloForm&lt;/servlet-name&gt;</a:t>
            </a:r>
            <a:br/>
            <a:r>
              <a:rPr sz="1400">
                <a:latin typeface="Courier New"/>
              </a:rPr>
              <a:t>    &lt;servlet-class&gt;HelloForm&lt;/servlet-class&gt;</a:t>
            </a:r>
            <a:br/>
            <a:r>
              <a:rPr sz="1400">
                <a:latin typeface="Courier New"/>
              </a:rPr>
              <a:t>  &lt;/servlet&gt;</a:t>
            </a:r>
            <a:br/>
            <a:r>
              <a:rPr sz="1400">
                <a:latin typeface="Courier New"/>
              </a:rPr>
              <a:t>  &lt;servlet-mapping&gt;</a:t>
            </a:r>
            <a:br/>
            <a:r>
              <a:rPr sz="1400">
                <a:latin typeface="Courier New"/>
              </a:rPr>
              <a:t>    &lt;servlet-name&gt;HelloForm&lt;/servlet-name&gt;</a:t>
            </a:r>
            <a:br/>
            <a:r>
              <a:rPr sz="1400">
                <a:latin typeface="Courier New"/>
              </a:rPr>
              <a:t>    &lt;url-pattern&gt;/HelloForm&lt;/url-pattern&gt;</a:t>
            </a:r>
            <a:br/>
            <a:r>
              <a:rPr sz="1400">
                <a:latin typeface="Courier New"/>
              </a:rPr>
              <a:t>  &lt;/servlet-mapping&gt;</a:t>
            </a:r>
            <a:br/>
            <a:r>
              <a:rPr sz="1400">
                <a:latin typeface="Courier New"/>
              </a:rPr>
              <a:t>&lt;/web-app&gt;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Maintains user data across multiple requests</a:t>
            </a:r>
          </a:p>
          <a:p>
            <a:pPr/>
            <a:r>
              <a:t>Techniques: Cookies, Hidden Fields, URL Rewriting, HttpSession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Cookie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Cookie ck = new Cookie("user", "Samiksha");</a:t>
            </a:r>
            <a:br/>
            <a:r>
              <a:rPr sz="1400">
                <a:latin typeface="Courier New"/>
              </a:rPr>
              <a:t>response.addCookie(ck);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HttpSession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HttpSession session = request.getSession();</a:t>
            </a:r>
            <a:br/>
            <a:r>
              <a:rPr sz="1400">
                <a:latin typeface="Courier New"/>
              </a:rPr>
              <a:t>session.setAttribute("username", "Samiksha");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[Add diagram: Browser ↔ Server with Session ID and state persistence]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Validate inputs and sanitize outputs</a:t>
            </a:r>
          </a:p>
          <a:p>
            <a:pPr/>
            <a:r>
              <a:t>Use HTTPS; secure cookies; set HttpOnly/SameSite</a:t>
            </a:r>
          </a:p>
          <a:p>
            <a:pPr/>
            <a:r>
              <a:t>Implement session timeout and regeneration</a:t>
            </a:r>
          </a:p>
          <a:p>
            <a:pPr/>
            <a:r>
              <a:t>Prevent CSRF and XSS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Servlets + Database (JDBC)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1) Register driver</a:t>
            </a:r>
          </a:p>
          <a:p>
            <a:pPr/>
            <a:r>
              <a:t>2) Create connection</a:t>
            </a:r>
          </a:p>
          <a:p>
            <a:pPr/>
            <a:r>
              <a:t>3) Create statement / PreparedStatement</a:t>
            </a:r>
          </a:p>
          <a:p>
            <a:pPr/>
            <a:r>
              <a:t>4) Execute query/update</a:t>
            </a:r>
          </a:p>
          <a:p>
            <a:pPr/>
            <a:r>
              <a:t>5) Close connection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Example (MySQL)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400">
                <a:latin typeface="Courier New"/>
              </a:rPr>
              <a:t>Class.forName("com.mysql.cj.jdbc.Driver");</a:t>
            </a:r>
            <a:br/>
            <a:r>
              <a:rPr sz="1400">
                <a:latin typeface="Courier New"/>
              </a:rPr>
              <a:t>Connection con = DriverManager.getConnection(</a:t>
            </a:r>
            <a:br/>
            <a:r>
              <a:rPr sz="1400">
                <a:latin typeface="Courier New"/>
              </a:rPr>
              <a:t>  "jdbc:mysql://localhost:3306/demo", "root", "1234");</a:t>
            </a:r>
            <a:br/>
            <a:r>
              <a:rPr sz="1400">
                <a:latin typeface="Courier New"/>
              </a:rPr>
              <a:t>Statement st = con.createStatement();</a:t>
            </a:r>
            <a:br/>
            <a:r>
              <a:rPr sz="1400">
                <a:latin typeface="Courier New"/>
              </a:rPr>
              <a:t>ResultSet rs = st.executeQuery("SELECT * FROM users");</a:t>
            </a:r>
            <a:br/>
            <a:r>
              <a:rPr sz="1400">
                <a:latin typeface="Courier New"/>
              </a:rPr>
              <a:t>while (rs.next()) {</a:t>
            </a:r>
            <a:br/>
            <a:r>
              <a:rPr sz="1400">
                <a:latin typeface="Courier New"/>
              </a:rPr>
              <a:t>  out.println(rs.getString("name"));</a:t>
            </a:r>
            <a:br/>
            <a:r>
              <a:rPr sz="1400">
                <a:latin typeface="Courier New"/>
              </a:rPr>
              <a:t>}</a:t>
            </a:r>
            <a:br/>
            <a:r>
              <a:rPr sz="1400">
                <a:latin typeface="Courier New"/>
              </a:rPr>
              <a:t>con.close();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[Add screenshot: HTML table rendering list of users fetched from DB]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Prerequisite (for JDBC)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Basic DDL/DML: CREATE TABLE, INSERT, SELECT, UPDATE, DELETE</a:t>
            </a:r>
          </a:p>
          <a:p>
            <a:pPr/>
            <a:r>
              <a:t>Keys, constraints, simple joins</a:t>
            </a:r>
          </a:p>
          <a:p>
            <a:pPr/>
            <a:r>
              <a:t>Connection URLs and credentials management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(Tools)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JDK 8+ installed</a:t>
            </a:r>
          </a:p>
          <a:p>
            <a:pPr/>
            <a:r>
              <a:t>Apache Tomcat 9+ (Servlet container)</a:t>
            </a:r>
          </a:p>
          <a:p>
            <a:pPr/>
            <a:r>
              <a:t>IDE: Eclipse/NetBeans/IntelliJ</a:t>
            </a:r>
          </a:p>
          <a:p>
            <a:pPr/>
            <a:r>
              <a:t>Web browser for testing</a:t>
            </a:r>
          </a:p>
          <a:p>
            <a:pPr/>
            <a:r>
              <a:t>Basic SQL knowledge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Web App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MyApp/</a:t>
            </a:r>
            <a:br/>
            <a:r>
              <a:rPr i="1" sz="2000">
                <a:solidFill>
                  <a:srgbClr val="646464"/>
                </a:solidFill>
              </a:rPr>
              <a:t> ┣ src/</a:t>
            </a:r>
            <a:br/>
            <a:r>
              <a:rPr i="1" sz="2000">
                <a:solidFill>
                  <a:srgbClr val="646464"/>
                </a:solidFill>
              </a:rPr>
              <a:t> ┃ ┗ MyServlet.java</a:t>
            </a:r>
            <a:br/>
            <a:r>
              <a:rPr i="1" sz="2000">
                <a:solidFill>
                  <a:srgbClr val="646464"/>
                </a:solidFill>
              </a:rPr>
              <a:t> ┣ WEB-INF/</a:t>
            </a:r>
            <a:br/>
            <a:r>
              <a:rPr i="1" sz="2000">
                <a:solidFill>
                  <a:srgbClr val="646464"/>
                </a:solidFill>
              </a:rPr>
              <a:t> ┃ ┣ web.xml</a:t>
            </a:r>
            <a:br/>
            <a:r>
              <a:rPr i="1" sz="2000">
                <a:solidFill>
                  <a:srgbClr val="646464"/>
                </a:solidFill>
              </a:rPr>
              <a:t> ┃ ┗ lib/servlet-api.jar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a Servlet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Create Dynamic Web Project</a:t>
            </a:r>
          </a:p>
          <a:p>
            <a:pPr/>
            <a:r>
              <a:t>Write servlet class extending HttpServlet</a:t>
            </a:r>
          </a:p>
          <a:p>
            <a:pPr/>
            <a:r>
              <a:t>Configure URL mapping in web.xml or @WebServlet</a:t>
            </a:r>
          </a:p>
          <a:p>
            <a:pPr/>
            <a:r>
              <a:t>Start Tomcat, deploy app</a:t>
            </a:r>
          </a:p>
          <a:p>
            <a:pPr/>
            <a:r>
              <a:t>Open http://localhost:8080/MyApp/MyServlet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i="1" sz="2000">
                <a:solidFill>
                  <a:srgbClr val="646464"/>
                </a:solidFill>
              </a:rPr>
              <a:t>[Add screenshot/GIF: Browser showing 'Hello World from Servlet']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Servlets = Java server-side components</a:t>
            </a:r>
          </a:p>
          <a:p>
            <a:pPr/>
            <a:r>
              <a:t>Lifecycle: init → service → destroy</a:t>
            </a:r>
          </a:p>
          <a:p>
            <a:pPr/>
            <a:r>
              <a:t>Handle GET/POST; track sessions</a:t>
            </a:r>
          </a:p>
          <a:p>
            <a:pPr/>
            <a:r>
              <a:t>Integrate with DB via JDBC</a:t>
            </a:r>
          </a:p>
          <a:p>
            <a:pPr/>
            <a:r>
              <a:t>Deployed on Tomcat/Servlet containers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Login &amp; registration flows</a:t>
            </a:r>
          </a:p>
          <a:p>
            <a:pPr/>
            <a:r>
              <a:t>Online forms and dashboards</a:t>
            </a:r>
          </a:p>
          <a:p>
            <a:pPr/>
            <a:r>
              <a:t>E-commerce backends</a:t>
            </a:r>
          </a:p>
          <a:p>
            <a:pPr/>
            <a:r>
              <a:t>Banking/enterprise web applications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Questions?</a:t>
            </a:r>
          </a:p>
          <a:p>
            <a:pPr/>
            <a:r>
              <a:t>Email / LinkedIn / QR: [Add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